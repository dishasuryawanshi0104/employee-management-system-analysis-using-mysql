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61" r:id="rId4"/>
    <p:sldId id="262" r:id="rId5"/>
    <p:sldId id="263" r:id="rId6"/>
    <p:sldId id="264" r:id="rId7"/>
    <p:sldId id="265" r:id="rId8"/>
    <p:sldId id="266" r:id="rId9"/>
    <p:sldId id="267" r:id="rId10"/>
    <p:sldId id="268" r:id="rId11"/>
    <p:sldId id="269" r:id="rId12"/>
    <p:sldId id="270" r:id="rId13"/>
    <p:sldId id="259" r:id="rId14"/>
  </p:sldIdLst>
  <p:sldSz cx="12192000" cy="6858000"/>
  <p:notesSz cx="6858000" cy="9144000"/>
  <p:embeddedFontLst>
    <p:embeddedFont>
      <p:font typeface="Lato Black" panose="020F0502020204030203" pitchFamily="34" charset="0"/>
      <p:bold r:id="rId16"/>
      <p:boldItalic r:id="rId17"/>
    </p:embeddedFont>
    <p:embeddedFont>
      <p:font typeface="Libre Baskerville" panose="02000000000000000000" pitchFamily="2" charset="0"/>
      <p:regular r:id="rId18"/>
      <p:bold r:id="rId19"/>
      <p: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microsoft.com/office/2016/11/relationships/changesInfo" Target="changesInfos/changesInfo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SHA SURYAWANSHI" userId="83bc4219979222e9" providerId="LiveId" clId="{08B842EB-C8F1-4A9F-BD61-8F095083F614}"/>
    <pc:docChg chg="custSel addSld delSld modSld">
      <pc:chgData name="DISHA SURYAWANSHI" userId="83bc4219979222e9" providerId="LiveId" clId="{08B842EB-C8F1-4A9F-BD61-8F095083F614}" dt="2026-01-05T10:31:16.397" v="759" actId="2696"/>
      <pc:docMkLst>
        <pc:docMk/>
      </pc:docMkLst>
      <pc:sldChg chg="modSp mod">
        <pc:chgData name="DISHA SURYAWANSHI" userId="83bc4219979222e9" providerId="LiveId" clId="{08B842EB-C8F1-4A9F-BD61-8F095083F614}" dt="2026-01-01T18:27:29.951" v="757" actId="1076"/>
        <pc:sldMkLst>
          <pc:docMk/>
          <pc:sldMk cId="3459129411" sldId="261"/>
        </pc:sldMkLst>
        <pc:spChg chg="mod">
          <ac:chgData name="DISHA SURYAWANSHI" userId="83bc4219979222e9" providerId="LiveId" clId="{08B842EB-C8F1-4A9F-BD61-8F095083F614}" dt="2026-01-01T18:27:29.951" v="757" actId="1076"/>
          <ac:spMkLst>
            <pc:docMk/>
            <pc:sldMk cId="3459129411" sldId="261"/>
            <ac:spMk id="3" creationId="{CE45CE6B-9E2C-4865-4D77-864BC010BD87}"/>
          </ac:spMkLst>
        </pc:spChg>
      </pc:sldChg>
      <pc:sldChg chg="addSp delSp modSp mod">
        <pc:chgData name="DISHA SURYAWANSHI" userId="83bc4219979222e9" providerId="LiveId" clId="{08B842EB-C8F1-4A9F-BD61-8F095083F614}" dt="2026-01-01T18:19:48.922" v="685" actId="20577"/>
        <pc:sldMkLst>
          <pc:docMk/>
          <pc:sldMk cId="453008065" sldId="264"/>
        </pc:sldMkLst>
        <pc:spChg chg="mod">
          <ac:chgData name="DISHA SURYAWANSHI" userId="83bc4219979222e9" providerId="LiveId" clId="{08B842EB-C8F1-4A9F-BD61-8F095083F614}" dt="2026-01-01T18:19:48.922" v="685" actId="20577"/>
          <ac:spMkLst>
            <pc:docMk/>
            <pc:sldMk cId="453008065" sldId="264"/>
            <ac:spMk id="2" creationId="{55E8463E-EADB-EF9F-B1BE-4CDA1A03FD88}"/>
          </ac:spMkLst>
        </pc:spChg>
        <pc:spChg chg="mod">
          <ac:chgData name="DISHA SURYAWANSHI" userId="83bc4219979222e9" providerId="LiveId" clId="{08B842EB-C8F1-4A9F-BD61-8F095083F614}" dt="2025-12-30T10:30:16.508" v="638" actId="12"/>
          <ac:spMkLst>
            <pc:docMk/>
            <pc:sldMk cId="453008065" sldId="264"/>
            <ac:spMk id="7" creationId="{6BBD59EB-615C-4BA2-2C5A-997546A50429}"/>
          </ac:spMkLst>
        </pc:spChg>
        <pc:picChg chg="add mod">
          <ac:chgData name="DISHA SURYAWANSHI" userId="83bc4219979222e9" providerId="LiveId" clId="{08B842EB-C8F1-4A9F-BD61-8F095083F614}" dt="2025-12-29T19:13:25.793" v="227" actId="1076"/>
          <ac:picMkLst>
            <pc:docMk/>
            <pc:sldMk cId="453008065" sldId="264"/>
            <ac:picMk id="9" creationId="{90DC3973-C78E-DA70-3478-5AF53A1FA9B1}"/>
          </ac:picMkLst>
        </pc:picChg>
      </pc:sldChg>
      <pc:sldChg chg="addSp modSp mod">
        <pc:chgData name="DISHA SURYAWANSHI" userId="83bc4219979222e9" providerId="LiveId" clId="{08B842EB-C8F1-4A9F-BD61-8F095083F614}" dt="2026-01-01T18:20:10.715" v="700" actId="20577"/>
        <pc:sldMkLst>
          <pc:docMk/>
          <pc:sldMk cId="276449377" sldId="265"/>
        </pc:sldMkLst>
        <pc:spChg chg="mod">
          <ac:chgData name="DISHA SURYAWANSHI" userId="83bc4219979222e9" providerId="LiveId" clId="{08B842EB-C8F1-4A9F-BD61-8F095083F614}" dt="2026-01-01T18:20:10.715" v="700" actId="20577"/>
          <ac:spMkLst>
            <pc:docMk/>
            <pc:sldMk cId="276449377" sldId="265"/>
            <ac:spMk id="2" creationId="{F9423B3B-2B30-7CA0-BB6F-68E6232DB3D5}"/>
          </ac:spMkLst>
        </pc:spChg>
        <pc:spChg chg="add mod">
          <ac:chgData name="DISHA SURYAWANSHI" userId="83bc4219979222e9" providerId="LiveId" clId="{08B842EB-C8F1-4A9F-BD61-8F095083F614}" dt="2025-12-30T10:32:09.836" v="662" actId="20577"/>
          <ac:spMkLst>
            <pc:docMk/>
            <pc:sldMk cId="276449377" sldId="265"/>
            <ac:spMk id="7" creationId="{974305A1-E05D-8EF2-BE00-85DBD07E668A}"/>
          </ac:spMkLst>
        </pc:spChg>
        <pc:picChg chg="add mod">
          <ac:chgData name="DISHA SURYAWANSHI" userId="83bc4219979222e9" providerId="LiveId" clId="{08B842EB-C8F1-4A9F-BD61-8F095083F614}" dt="2025-12-29T19:09:52.359" v="216" actId="14100"/>
          <ac:picMkLst>
            <pc:docMk/>
            <pc:sldMk cId="276449377" sldId="265"/>
            <ac:picMk id="4" creationId="{9A01F3DD-2BFB-1515-E4C0-B8F63F5C4CF9}"/>
          </ac:picMkLst>
        </pc:picChg>
        <pc:picChg chg="add mod">
          <ac:chgData name="DISHA SURYAWANSHI" userId="83bc4219979222e9" providerId="LiveId" clId="{08B842EB-C8F1-4A9F-BD61-8F095083F614}" dt="2025-12-29T18:31:08.103" v="12" actId="1076"/>
          <ac:picMkLst>
            <pc:docMk/>
            <pc:sldMk cId="276449377" sldId="265"/>
            <ac:picMk id="6" creationId="{F52003EC-18CC-66C4-FD57-95664E8A9843}"/>
          </ac:picMkLst>
        </pc:picChg>
      </pc:sldChg>
      <pc:sldChg chg="addSp modSp mod">
        <pc:chgData name="DISHA SURYAWANSHI" userId="83bc4219979222e9" providerId="LiveId" clId="{08B842EB-C8F1-4A9F-BD61-8F095083F614}" dt="2026-01-01T18:24:14.171" v="715" actId="20577"/>
        <pc:sldMkLst>
          <pc:docMk/>
          <pc:sldMk cId="886955216" sldId="266"/>
        </pc:sldMkLst>
        <pc:spChg chg="mod">
          <ac:chgData name="DISHA SURYAWANSHI" userId="83bc4219979222e9" providerId="LiveId" clId="{08B842EB-C8F1-4A9F-BD61-8F095083F614}" dt="2026-01-01T18:24:14.171" v="715" actId="20577"/>
          <ac:spMkLst>
            <pc:docMk/>
            <pc:sldMk cId="886955216" sldId="266"/>
            <ac:spMk id="2" creationId="{878747B4-EB6A-5686-AFB1-DBD11985EDB6}"/>
          </ac:spMkLst>
        </pc:spChg>
        <pc:spChg chg="add mod">
          <ac:chgData name="DISHA SURYAWANSHI" userId="83bc4219979222e9" providerId="LiveId" clId="{08B842EB-C8F1-4A9F-BD61-8F095083F614}" dt="2025-12-30T10:32:05.019" v="660" actId="20577"/>
          <ac:spMkLst>
            <pc:docMk/>
            <pc:sldMk cId="886955216" sldId="266"/>
            <ac:spMk id="7" creationId="{6BF79B63-CDE9-C44D-C009-34573610E19C}"/>
          </ac:spMkLst>
        </pc:spChg>
        <pc:picChg chg="add mod">
          <ac:chgData name="DISHA SURYAWANSHI" userId="83bc4219979222e9" providerId="LiveId" clId="{08B842EB-C8F1-4A9F-BD61-8F095083F614}" dt="2025-12-29T18:39:45.093" v="63" actId="1076"/>
          <ac:picMkLst>
            <pc:docMk/>
            <pc:sldMk cId="886955216" sldId="266"/>
            <ac:picMk id="4" creationId="{58628EBD-B0FC-2BE5-C814-6D7A047DFC33}"/>
          </ac:picMkLst>
        </pc:picChg>
        <pc:picChg chg="add mod">
          <ac:chgData name="DISHA SURYAWANSHI" userId="83bc4219979222e9" providerId="LiveId" clId="{08B842EB-C8F1-4A9F-BD61-8F095083F614}" dt="2025-12-29T18:40:18.120" v="69" actId="1076"/>
          <ac:picMkLst>
            <pc:docMk/>
            <pc:sldMk cId="886955216" sldId="266"/>
            <ac:picMk id="6" creationId="{13D0FA30-6464-2446-28F0-C61373D008D8}"/>
          </ac:picMkLst>
        </pc:picChg>
      </pc:sldChg>
      <pc:sldChg chg="addSp delSp modSp mod">
        <pc:chgData name="DISHA SURYAWANSHI" userId="83bc4219979222e9" providerId="LiveId" clId="{08B842EB-C8F1-4A9F-BD61-8F095083F614}" dt="2026-01-01T18:24:59.547" v="733" actId="1076"/>
        <pc:sldMkLst>
          <pc:docMk/>
          <pc:sldMk cId="1660383885" sldId="267"/>
        </pc:sldMkLst>
        <pc:spChg chg="mod">
          <ac:chgData name="DISHA SURYAWANSHI" userId="83bc4219979222e9" providerId="LiveId" clId="{08B842EB-C8F1-4A9F-BD61-8F095083F614}" dt="2026-01-01T18:24:59.547" v="733" actId="1076"/>
          <ac:spMkLst>
            <pc:docMk/>
            <pc:sldMk cId="1660383885" sldId="267"/>
            <ac:spMk id="2" creationId="{F86AFFFB-5D18-82EC-E598-1BB8621A9B84}"/>
          </ac:spMkLst>
        </pc:spChg>
        <pc:spChg chg="add mod">
          <ac:chgData name="DISHA SURYAWANSHI" userId="83bc4219979222e9" providerId="LiveId" clId="{08B842EB-C8F1-4A9F-BD61-8F095083F614}" dt="2025-12-30T10:31:59.088" v="658" actId="20577"/>
          <ac:spMkLst>
            <pc:docMk/>
            <pc:sldMk cId="1660383885" sldId="267"/>
            <ac:spMk id="12" creationId="{D7A6FEB7-78B6-D3CA-930E-23A9C7275B05}"/>
          </ac:spMkLst>
        </pc:spChg>
        <pc:picChg chg="add mod">
          <ac:chgData name="DISHA SURYAWANSHI" userId="83bc4219979222e9" providerId="LiveId" clId="{08B842EB-C8F1-4A9F-BD61-8F095083F614}" dt="2025-12-29T19:07:34.634" v="198" actId="1076"/>
          <ac:picMkLst>
            <pc:docMk/>
            <pc:sldMk cId="1660383885" sldId="267"/>
            <ac:picMk id="9" creationId="{43DC45B8-5BEF-D69B-1B45-6AEB12488068}"/>
          </ac:picMkLst>
        </pc:picChg>
        <pc:picChg chg="add mod">
          <ac:chgData name="DISHA SURYAWANSHI" userId="83bc4219979222e9" providerId="LiveId" clId="{08B842EB-C8F1-4A9F-BD61-8F095083F614}" dt="2025-12-29T19:07:59.845" v="202" actId="1076"/>
          <ac:picMkLst>
            <pc:docMk/>
            <pc:sldMk cId="1660383885" sldId="267"/>
            <ac:picMk id="11" creationId="{9014CB8A-0B44-886D-901A-AA45E24A4C2E}"/>
          </ac:picMkLst>
        </pc:picChg>
      </pc:sldChg>
      <pc:sldChg chg="addSp delSp modSp mod">
        <pc:chgData name="DISHA SURYAWANSHI" userId="83bc4219979222e9" providerId="LiveId" clId="{08B842EB-C8F1-4A9F-BD61-8F095083F614}" dt="2026-01-01T18:26:16.692" v="756" actId="20577"/>
        <pc:sldMkLst>
          <pc:docMk/>
          <pc:sldMk cId="2054738998" sldId="268"/>
        </pc:sldMkLst>
        <pc:spChg chg="mod">
          <ac:chgData name="DISHA SURYAWANSHI" userId="83bc4219979222e9" providerId="LiveId" clId="{08B842EB-C8F1-4A9F-BD61-8F095083F614}" dt="2026-01-01T18:26:16.692" v="756" actId="20577"/>
          <ac:spMkLst>
            <pc:docMk/>
            <pc:sldMk cId="2054738998" sldId="268"/>
            <ac:spMk id="2" creationId="{DECE9E74-828A-A3F3-6AD1-0B9C977EE1DE}"/>
          </ac:spMkLst>
        </pc:spChg>
        <pc:spChg chg="add mod">
          <ac:chgData name="DISHA SURYAWANSHI" userId="83bc4219979222e9" providerId="LiveId" clId="{08B842EB-C8F1-4A9F-BD61-8F095083F614}" dt="2025-12-30T10:31:52.336" v="656" actId="20577"/>
          <ac:spMkLst>
            <pc:docMk/>
            <pc:sldMk cId="2054738998" sldId="268"/>
            <ac:spMk id="8" creationId="{B227013F-350A-38AC-4B4E-BF0A72F53326}"/>
          </ac:spMkLst>
        </pc:spChg>
        <pc:picChg chg="add mod">
          <ac:chgData name="DISHA SURYAWANSHI" userId="83bc4219979222e9" providerId="LiveId" clId="{08B842EB-C8F1-4A9F-BD61-8F095083F614}" dt="2025-12-29T18:58:59.018" v="151" actId="14100"/>
          <ac:picMkLst>
            <pc:docMk/>
            <pc:sldMk cId="2054738998" sldId="268"/>
            <ac:picMk id="4" creationId="{4C590D1C-0EDC-A2E1-07F2-880F2B1AB91B}"/>
          </ac:picMkLst>
        </pc:picChg>
        <pc:picChg chg="add mod">
          <ac:chgData name="DISHA SURYAWANSHI" userId="83bc4219979222e9" providerId="LiveId" clId="{08B842EB-C8F1-4A9F-BD61-8F095083F614}" dt="2025-12-29T18:59:06.073" v="152" actId="1076"/>
          <ac:picMkLst>
            <pc:docMk/>
            <pc:sldMk cId="2054738998" sldId="268"/>
            <ac:picMk id="6" creationId="{577BB02C-6077-81B2-CAB7-71B83699CEF5}"/>
          </ac:picMkLst>
        </pc:picChg>
      </pc:sldChg>
      <pc:sldChg chg="addSp modSp new mod">
        <pc:chgData name="DISHA SURYAWANSHI" userId="83bc4219979222e9" providerId="LiveId" clId="{08B842EB-C8F1-4A9F-BD61-8F095083F614}" dt="2025-12-29T19:50:37.734" v="465" actId="123"/>
        <pc:sldMkLst>
          <pc:docMk/>
          <pc:sldMk cId="3441150412" sldId="269"/>
        </pc:sldMkLst>
        <pc:spChg chg="mod">
          <ac:chgData name="DISHA SURYAWANSHI" userId="83bc4219979222e9" providerId="LiveId" clId="{08B842EB-C8F1-4A9F-BD61-8F095083F614}" dt="2025-12-29T19:17:12.560" v="266" actId="1076"/>
          <ac:spMkLst>
            <pc:docMk/>
            <pc:sldMk cId="3441150412" sldId="269"/>
            <ac:spMk id="2" creationId="{EA918335-28C8-75A1-F7EF-A4936ABC78A4}"/>
          </ac:spMkLst>
        </pc:spChg>
        <pc:spChg chg="mod">
          <ac:chgData name="DISHA SURYAWANSHI" userId="83bc4219979222e9" providerId="LiveId" clId="{08B842EB-C8F1-4A9F-BD61-8F095083F614}" dt="2025-12-29T19:50:37.734" v="465" actId="123"/>
          <ac:spMkLst>
            <pc:docMk/>
            <pc:sldMk cId="3441150412" sldId="269"/>
            <ac:spMk id="3" creationId="{4854451F-BAEF-62C9-E9EE-5AE81D865443}"/>
          </ac:spMkLst>
        </pc:spChg>
      </pc:sldChg>
      <pc:sldChg chg="modSp new mod">
        <pc:chgData name="DISHA SURYAWANSHI" userId="83bc4219979222e9" providerId="LiveId" clId="{08B842EB-C8F1-4A9F-BD61-8F095083F614}" dt="2025-12-29T19:50:24.525" v="464" actId="123"/>
        <pc:sldMkLst>
          <pc:docMk/>
          <pc:sldMk cId="3659870931" sldId="270"/>
        </pc:sldMkLst>
        <pc:spChg chg="mod">
          <ac:chgData name="DISHA SURYAWANSHI" userId="83bc4219979222e9" providerId="LiveId" clId="{08B842EB-C8F1-4A9F-BD61-8F095083F614}" dt="2025-12-29T19:44:08.534" v="450" actId="1076"/>
          <ac:spMkLst>
            <pc:docMk/>
            <pc:sldMk cId="3659870931" sldId="270"/>
            <ac:spMk id="2" creationId="{0D34F256-07D9-3F9F-DC0B-2E342C58BED0}"/>
          </ac:spMkLst>
        </pc:spChg>
        <pc:spChg chg="mod">
          <ac:chgData name="DISHA SURYAWANSHI" userId="83bc4219979222e9" providerId="LiveId" clId="{08B842EB-C8F1-4A9F-BD61-8F095083F614}" dt="2025-12-29T19:50:24.525" v="464" actId="123"/>
          <ac:spMkLst>
            <pc:docMk/>
            <pc:sldMk cId="3659870931" sldId="270"/>
            <ac:spMk id="3" creationId="{8D429FB4-2AB3-C443-E4CA-54AF2834947C}"/>
          </ac:spMkLst>
        </pc:spChg>
      </pc:sldChg>
      <pc:sldChg chg="new del">
        <pc:chgData name="DISHA SURYAWANSHI" userId="83bc4219979222e9" providerId="LiveId" clId="{08B842EB-C8F1-4A9F-BD61-8F095083F614}" dt="2026-01-05T10:31:16.397" v="759" actId="2696"/>
        <pc:sldMkLst>
          <pc:docMk/>
          <pc:sldMk cId="3709000943" sldId="271"/>
        </pc:sldMkLst>
      </pc:sldChg>
      <pc:sldMasterChg chg="delSldLayout">
        <pc:chgData name="DISHA SURYAWANSHI" userId="83bc4219979222e9" providerId="LiveId" clId="{08B842EB-C8F1-4A9F-BD61-8F095083F614}" dt="2026-01-05T10:31:16.397" v="759" actId="2696"/>
        <pc:sldMasterMkLst>
          <pc:docMk/>
          <pc:sldMasterMk cId="0" sldId="2147483648"/>
        </pc:sldMasterMkLst>
        <pc:sldLayoutChg chg="del">
          <pc:chgData name="DISHA SURYAWANSHI" userId="83bc4219979222e9" providerId="LiveId" clId="{08B842EB-C8F1-4A9F-BD61-8F095083F614}" dt="2026-01-05T10:31:16.397" v="759" actId="2696"/>
          <pc:sldLayoutMkLst>
            <pc:docMk/>
            <pc:sldMasterMk cId="0" sldId="2147483648"/>
            <pc:sldLayoutMk cId="0"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dishasuryawanshi0104"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Dishasuryawanshi010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472904" y="3717986"/>
            <a:ext cx="7246189" cy="184661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br>
              <a:rPr lang="en-IN" sz="1800" b="0" i="0" u="none" strike="noStrike" cap="none" dirty="0">
                <a:solidFill>
                  <a:schemeClr val="dk1"/>
                </a:solidFill>
                <a:latin typeface="Calibri"/>
                <a:ea typeface="Calibri"/>
                <a:cs typeface="Calibri"/>
                <a:sym typeface="Calibri"/>
              </a:rPr>
            </a:br>
            <a:r>
              <a:rPr lang="en-IN" sz="4800" b="1" dirty="0">
                <a:solidFill>
                  <a:schemeClr val="dk1"/>
                </a:solidFill>
                <a:latin typeface="Calibri"/>
                <a:ea typeface="Calibri"/>
                <a:cs typeface="Calibri"/>
                <a:sym typeface="Calibri"/>
              </a:rPr>
              <a:t>Employee Management System using SQL</a:t>
            </a:r>
            <a:endParaRPr sz="4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37812" y="1299172"/>
            <a:ext cx="10215324" cy="4093388"/>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chemeClr val="dk1"/>
              </a:buClr>
              <a:buSzPts val="1800"/>
              <a:buFont typeface="Arial" panose="020B0604020202020204" pitchFamily="34" charset="0"/>
              <a:buChar char="•"/>
            </a:pPr>
            <a:r>
              <a:rPr lang="en-IN" sz="1800" b="1" i="0" u="none" strike="noStrike" cap="none" dirty="0">
                <a:solidFill>
                  <a:schemeClr val="dk1"/>
                </a:solidFill>
                <a:latin typeface="+mn-lt"/>
                <a:ea typeface="Calibri"/>
                <a:cs typeface="Calibri"/>
                <a:sym typeface="Calibri"/>
              </a:rPr>
              <a:t>Name :-  </a:t>
            </a:r>
            <a:r>
              <a:rPr lang="en-IN" sz="1800" i="0" u="none" strike="noStrike" cap="none" dirty="0">
                <a:solidFill>
                  <a:schemeClr val="dk1"/>
                </a:solidFill>
                <a:latin typeface="+mn-lt"/>
                <a:ea typeface="Calibri"/>
                <a:cs typeface="Calibri"/>
                <a:sym typeface="Calibri"/>
              </a:rPr>
              <a:t>Disha Sudhakar </a:t>
            </a:r>
            <a:r>
              <a:rPr lang="en-IN" sz="1800" i="0" u="none" strike="noStrike" cap="none" dirty="0" err="1">
                <a:solidFill>
                  <a:schemeClr val="dk1"/>
                </a:solidFill>
                <a:latin typeface="+mn-lt"/>
                <a:ea typeface="Calibri"/>
                <a:cs typeface="Calibri"/>
                <a:sym typeface="Calibri"/>
              </a:rPr>
              <a:t>Suryawanshi</a:t>
            </a:r>
            <a:r>
              <a:rPr lang="en-IN" sz="1800" i="0" u="none" strike="noStrike" cap="none" dirty="0">
                <a:solidFill>
                  <a:schemeClr val="dk1"/>
                </a:solidFill>
                <a:latin typeface="+mn-lt"/>
                <a:ea typeface="Calibri"/>
                <a:cs typeface="Calibri"/>
                <a:sym typeface="Calibri"/>
              </a:rPr>
              <a:t> </a:t>
            </a:r>
          </a:p>
          <a:p>
            <a:pPr marL="285750" lvl="0" indent="-285750" algn="just">
              <a:lnSpc>
                <a:spcPct val="200000"/>
              </a:lnSpc>
              <a:buClr>
                <a:schemeClr val="dk1"/>
              </a:buClr>
              <a:buSzPts val="1800"/>
              <a:buFont typeface="Arial" panose="020B0604020202020204" pitchFamily="34" charset="0"/>
              <a:buChar char="•"/>
            </a:pPr>
            <a:r>
              <a:rPr lang="en-US" sz="1800" b="1" dirty="0"/>
              <a:t>Education :- </a:t>
            </a:r>
            <a:r>
              <a:rPr lang="en-US" sz="1800" dirty="0"/>
              <a:t>G. H. </a:t>
            </a:r>
            <a:r>
              <a:rPr lang="en-US" sz="1800" dirty="0" err="1"/>
              <a:t>Raisoni</a:t>
            </a:r>
            <a:r>
              <a:rPr lang="en-US" sz="1800" dirty="0"/>
              <a:t> college of engineering and business management ,Jalgaon.</a:t>
            </a:r>
          </a:p>
          <a:p>
            <a:pPr lvl="0" algn="just">
              <a:lnSpc>
                <a:spcPct val="200000"/>
              </a:lnSpc>
              <a:buClr>
                <a:schemeClr val="dk1"/>
              </a:buClr>
              <a:buSzPts val="1800"/>
            </a:pPr>
            <a:r>
              <a:rPr lang="en-US" sz="1800" dirty="0"/>
              <a:t>•   </a:t>
            </a:r>
            <a:r>
              <a:rPr lang="en-US" sz="1800" b="1" dirty="0"/>
              <a:t>Why I Want To Learn Data Science :- </a:t>
            </a:r>
            <a:r>
              <a:rPr lang="en-US" sz="1800" dirty="0"/>
              <a:t> I want to learn data science because ,I’ve always been curious about how companies makes the decision about what customers likes or dislikes, that urge of knowing how this decision making works in companies created my interest in data science .</a:t>
            </a:r>
          </a:p>
          <a:p>
            <a:pPr lvl="0" algn="just">
              <a:lnSpc>
                <a:spcPct val="200000"/>
              </a:lnSpc>
              <a:buClr>
                <a:schemeClr val="dk1"/>
              </a:buClr>
              <a:buSzPts val="1800"/>
            </a:pPr>
            <a:r>
              <a:rPr lang="en-US" sz="1800" dirty="0"/>
              <a:t>• </a:t>
            </a:r>
            <a:r>
              <a:rPr lang="en-US" sz="1800" b="1" dirty="0"/>
              <a:t>Connect With Me :-  </a:t>
            </a:r>
            <a:r>
              <a:rPr lang="en-US" sz="1800" dirty="0"/>
              <a:t>LinkedIn -  </a:t>
            </a:r>
            <a:r>
              <a:rPr lang="en-IN" sz="2000" dirty="0">
                <a:hlinkClick r:id="rId3"/>
              </a:rPr>
              <a:t>www.linkedin.com/in/dishasuryawanshi0104</a:t>
            </a:r>
            <a:r>
              <a:rPr lang="en-IN" sz="2000" dirty="0"/>
              <a:t> </a:t>
            </a:r>
          </a:p>
          <a:p>
            <a:pPr lvl="0" algn="just">
              <a:lnSpc>
                <a:spcPct val="200000"/>
              </a:lnSpc>
              <a:buClr>
                <a:schemeClr val="dk1"/>
              </a:buClr>
              <a:buSzPts val="1800"/>
            </a:pPr>
            <a:r>
              <a:rPr lang="en-US" sz="1800" dirty="0"/>
              <a:t>   		        GitHub -  </a:t>
            </a:r>
            <a:r>
              <a:rPr lang="en-US" sz="2000" dirty="0">
                <a:hlinkClick r:id="rId4"/>
              </a:rPr>
              <a:t>https://github.com/Dishasuryawanshi0104</a:t>
            </a:r>
            <a:r>
              <a:rPr lang="en-US" sz="2000" dirty="0"/>
              <a:t> </a:t>
            </a:r>
            <a:endParaRPr sz="20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619826" y="567292"/>
            <a:ext cx="6099463" cy="535491"/>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600" b="0" i="0"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Lato Black"/>
              </a:rPr>
              <a:t>About me :-</a:t>
            </a:r>
            <a:endParaRPr sz="3600" b="0" i="0"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7573F-B340-F2DF-89D4-5F1159486F05}"/>
              </a:ext>
            </a:extLst>
          </p:cNvPr>
          <p:cNvSpPr>
            <a:spLocks noGrp="1"/>
          </p:cNvSpPr>
          <p:nvPr>
            <p:ph type="title"/>
          </p:nvPr>
        </p:nvSpPr>
        <p:spPr>
          <a:xfrm>
            <a:off x="838200" y="365125"/>
            <a:ext cx="10515600" cy="942565"/>
          </a:xfrm>
        </p:spPr>
        <p:txBody>
          <a:bodyPr>
            <a:normAutofit/>
          </a:bodyPr>
          <a:lstStyle/>
          <a:p>
            <a:r>
              <a:rPr lang="en-IN" sz="3600" dirty="0">
                <a:solidFill>
                  <a:srgbClr val="FF0000"/>
                </a:solidFill>
              </a:rPr>
              <a:t>Business Objectives :- </a:t>
            </a:r>
          </a:p>
        </p:txBody>
      </p:sp>
      <p:sp>
        <p:nvSpPr>
          <p:cNvPr id="3" name="Text Placeholder 2">
            <a:extLst>
              <a:ext uri="{FF2B5EF4-FFF2-40B4-BE49-F238E27FC236}">
                <a16:creationId xmlns:a16="http://schemas.microsoft.com/office/drawing/2014/main" id="{CE45CE6B-9E2C-4865-4D77-864BC010BD87}"/>
              </a:ext>
            </a:extLst>
          </p:cNvPr>
          <p:cNvSpPr>
            <a:spLocks noGrp="1"/>
          </p:cNvSpPr>
          <p:nvPr>
            <p:ph type="body" idx="1"/>
          </p:nvPr>
        </p:nvSpPr>
        <p:spPr>
          <a:xfrm>
            <a:off x="838200" y="1307690"/>
            <a:ext cx="10515600" cy="4643131"/>
          </a:xfrm>
        </p:spPr>
        <p:txBody>
          <a:bodyPr>
            <a:normAutofit/>
          </a:bodyPr>
          <a:lstStyle/>
          <a:p>
            <a:pPr marL="504000" algn="just">
              <a:lnSpc>
                <a:spcPct val="150000"/>
              </a:lnSpc>
            </a:pPr>
            <a:r>
              <a:rPr lang="en-US" dirty="0"/>
              <a:t>In this Project ,by </a:t>
            </a:r>
            <a:r>
              <a:rPr lang="en-US" dirty="0" err="1"/>
              <a:t>Analysing</a:t>
            </a:r>
            <a:r>
              <a:rPr lang="en-US" dirty="0"/>
              <a:t> the Employee Management System, uncovers how systems store and manage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employee information such as personal details, job roles, qualifications, leaves and payroll data in a single database.</a:t>
            </a:r>
          </a:p>
          <a:p>
            <a:pPr marL="504000" algn="just">
              <a:lnSpc>
                <a:spcPct val="150000"/>
              </a:lnSpc>
            </a:pP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It improves efficiency and accuracy in managing employee records and reduce manual data handling.</a:t>
            </a:r>
          </a:p>
          <a:p>
            <a:endParaRPr lang="en-IN" dirty="0"/>
          </a:p>
        </p:txBody>
      </p:sp>
    </p:spTree>
    <p:extLst>
      <p:ext uri="{BB962C8B-B14F-4D97-AF65-F5344CB8AC3E}">
        <p14:creationId xmlns:p14="http://schemas.microsoft.com/office/powerpoint/2010/main" val="3459129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9F01E-624C-B07F-9826-0EFF91805169}"/>
              </a:ext>
            </a:extLst>
          </p:cNvPr>
          <p:cNvSpPr>
            <a:spLocks noGrp="1"/>
          </p:cNvSpPr>
          <p:nvPr>
            <p:ph type="title"/>
          </p:nvPr>
        </p:nvSpPr>
        <p:spPr>
          <a:xfrm>
            <a:off x="838200" y="365126"/>
            <a:ext cx="10515600" cy="1040888"/>
          </a:xfrm>
        </p:spPr>
        <p:txBody>
          <a:bodyPr>
            <a:normAutofit/>
          </a:bodyPr>
          <a:lstStyle/>
          <a:p>
            <a:r>
              <a:rPr lang="en-IN" sz="3600" dirty="0">
                <a:solidFill>
                  <a:srgbClr val="FF0000"/>
                </a:solidFill>
              </a:rPr>
              <a:t>Approach of Business Objective -</a:t>
            </a:r>
          </a:p>
        </p:txBody>
      </p:sp>
      <p:sp>
        <p:nvSpPr>
          <p:cNvPr id="4" name="Rectangle 1">
            <a:extLst>
              <a:ext uri="{FF2B5EF4-FFF2-40B4-BE49-F238E27FC236}">
                <a16:creationId xmlns:a16="http://schemas.microsoft.com/office/drawing/2014/main" id="{47389D5C-2616-C674-CB61-F7C57C45B5D7}"/>
              </a:ext>
            </a:extLst>
          </p:cNvPr>
          <p:cNvSpPr>
            <a:spLocks noGrp="1" noChangeArrowheads="1"/>
          </p:cNvSpPr>
          <p:nvPr>
            <p:ph type="body" idx="1"/>
          </p:nvPr>
        </p:nvSpPr>
        <p:spPr bwMode="auto">
          <a:xfrm>
            <a:off x="838200" y="1406014"/>
            <a:ext cx="1006577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 To automate payroll processing by integrating salary, bonus, and leave  </a:t>
            </a:r>
            <a:r>
              <a:rPr lang="en-US" altLang="en-US" sz="2400" dirty="0">
                <a:solidFill>
                  <a:schemeClr val="tx1"/>
                </a:solidFill>
                <a:latin typeface="Arial" panose="020B0604020202020204" pitchFamily="34" charset="0"/>
              </a:rPr>
              <a:t>   </a:t>
            </a:r>
            <a:r>
              <a:rPr kumimoji="0" lang="en-US" altLang="en-US" sz="2400" i="0" u="none" strike="noStrike" cap="none" normalizeH="0" baseline="0" dirty="0">
                <a:ln>
                  <a:noFill/>
                </a:ln>
                <a:solidFill>
                  <a:schemeClr val="tx1"/>
                </a:solidFill>
                <a:effectLst/>
                <a:latin typeface="Arial" panose="020B0604020202020204" pitchFamily="34" charset="0"/>
              </a:rPr>
              <a:t>information.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 To track employee qualifications and skills to support recruitment, </a:t>
            </a:r>
            <a:r>
              <a:rPr lang="en-US" altLang="en-US" sz="2400" dirty="0">
                <a:solidFill>
                  <a:schemeClr val="tx1"/>
                </a:solidFill>
                <a:latin typeface="Arial" panose="020B0604020202020204" pitchFamily="34" charset="0"/>
              </a:rPr>
              <a:t>       </a:t>
            </a:r>
            <a:r>
              <a:rPr kumimoji="0" lang="en-US" altLang="en-US" sz="2400" i="0" u="none" strike="noStrike" cap="none" normalizeH="0" baseline="0" dirty="0">
                <a:ln>
                  <a:noFill/>
                </a:ln>
                <a:solidFill>
                  <a:schemeClr val="tx1"/>
                </a:solidFill>
                <a:effectLst/>
                <a:latin typeface="Arial" panose="020B0604020202020204" pitchFamily="34" charset="0"/>
              </a:rPr>
              <a:t>promotions, and role assignments.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 To manage employee leave records and analyze their impact on payroll.</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 To support decision-making by generating useful reports such as department-wise salary, employee count, and payroll summaries</a:t>
            </a:r>
            <a:r>
              <a:rPr lang="en-US" altLang="en-US" sz="1800" dirty="0">
                <a:solidFill>
                  <a:schemeClr val="tx1"/>
                </a:solidFill>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27328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F3CD54-6728-C47B-0D41-EB9DEBEBDB62}"/>
              </a:ext>
            </a:extLst>
          </p:cNvPr>
          <p:cNvSpPr txBox="1"/>
          <p:nvPr/>
        </p:nvSpPr>
        <p:spPr>
          <a:xfrm>
            <a:off x="0" y="121416"/>
            <a:ext cx="3087328" cy="523220"/>
          </a:xfrm>
          <a:prstGeom prst="rect">
            <a:avLst/>
          </a:prstGeom>
          <a:noFill/>
        </p:spPr>
        <p:txBody>
          <a:bodyPr wrap="square">
            <a:spAutoFit/>
          </a:bodyPr>
          <a:lstStyle/>
          <a:p>
            <a:r>
              <a:rPr lang="en-IN" sz="2800" dirty="0">
                <a:solidFill>
                  <a:srgbClr val="FF0000"/>
                </a:solidFill>
              </a:rPr>
              <a:t>ER Diagram:-</a:t>
            </a:r>
          </a:p>
        </p:txBody>
      </p:sp>
      <p:pic>
        <p:nvPicPr>
          <p:cNvPr id="5" name="Picture 4">
            <a:extLst>
              <a:ext uri="{FF2B5EF4-FFF2-40B4-BE49-F238E27FC236}">
                <a16:creationId xmlns:a16="http://schemas.microsoft.com/office/drawing/2014/main" id="{3DACB1B3-FEC2-3F24-BB04-E21D379C9FDD}"/>
              </a:ext>
            </a:extLst>
          </p:cNvPr>
          <p:cNvPicPr>
            <a:picLocks noChangeAspect="1"/>
          </p:cNvPicPr>
          <p:nvPr/>
        </p:nvPicPr>
        <p:blipFill>
          <a:blip r:embed="rId2"/>
          <a:stretch>
            <a:fillRect/>
          </a:stretch>
        </p:blipFill>
        <p:spPr>
          <a:xfrm>
            <a:off x="1840271" y="751840"/>
            <a:ext cx="8232501" cy="5405120"/>
          </a:xfrm>
          <a:prstGeom prst="rect">
            <a:avLst/>
          </a:prstGeom>
        </p:spPr>
      </p:pic>
    </p:spTree>
    <p:extLst>
      <p:ext uri="{BB962C8B-B14F-4D97-AF65-F5344CB8AC3E}">
        <p14:creationId xmlns:p14="http://schemas.microsoft.com/office/powerpoint/2010/main" val="1348618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8463E-EADB-EF9F-B1BE-4CDA1A03FD88}"/>
              </a:ext>
            </a:extLst>
          </p:cNvPr>
          <p:cNvSpPr>
            <a:spLocks noGrp="1"/>
          </p:cNvSpPr>
          <p:nvPr>
            <p:ph type="title"/>
          </p:nvPr>
        </p:nvSpPr>
        <p:spPr>
          <a:xfrm>
            <a:off x="259080" y="-4434"/>
            <a:ext cx="11673840" cy="833755"/>
          </a:xfrm>
        </p:spPr>
        <p:txBody>
          <a:bodyPr>
            <a:normAutofit/>
          </a:bodyPr>
          <a:lstStyle/>
          <a:p>
            <a:r>
              <a:rPr lang="en-US" sz="3200" dirty="0">
                <a:solidFill>
                  <a:srgbClr val="FF0000"/>
                </a:solidFill>
              </a:rPr>
              <a:t>-- Average salary per department </a:t>
            </a:r>
            <a:endParaRPr lang="en-IN" sz="3200" dirty="0">
              <a:solidFill>
                <a:srgbClr val="FF0000"/>
              </a:solidFill>
            </a:endParaRPr>
          </a:p>
        </p:txBody>
      </p:sp>
      <p:pic>
        <p:nvPicPr>
          <p:cNvPr id="4" name="Picture 3">
            <a:extLst>
              <a:ext uri="{FF2B5EF4-FFF2-40B4-BE49-F238E27FC236}">
                <a16:creationId xmlns:a16="http://schemas.microsoft.com/office/drawing/2014/main" id="{3EDB2304-8286-9E48-5377-4231DF8091E9}"/>
              </a:ext>
            </a:extLst>
          </p:cNvPr>
          <p:cNvPicPr>
            <a:picLocks noChangeAspect="1"/>
          </p:cNvPicPr>
          <p:nvPr/>
        </p:nvPicPr>
        <p:blipFill>
          <a:blip r:embed="rId2"/>
          <a:stretch>
            <a:fillRect/>
          </a:stretch>
        </p:blipFill>
        <p:spPr>
          <a:xfrm>
            <a:off x="415564" y="829320"/>
            <a:ext cx="6157956" cy="2889239"/>
          </a:xfrm>
          <a:prstGeom prst="rect">
            <a:avLst/>
          </a:prstGeom>
        </p:spPr>
      </p:pic>
      <p:sp>
        <p:nvSpPr>
          <p:cNvPr id="7" name="TextBox 6">
            <a:extLst>
              <a:ext uri="{FF2B5EF4-FFF2-40B4-BE49-F238E27FC236}">
                <a16:creationId xmlns:a16="http://schemas.microsoft.com/office/drawing/2014/main" id="{6BBD59EB-615C-4BA2-2C5A-997546A50429}"/>
              </a:ext>
            </a:extLst>
          </p:cNvPr>
          <p:cNvSpPr txBox="1"/>
          <p:nvPr/>
        </p:nvSpPr>
        <p:spPr>
          <a:xfrm>
            <a:off x="418173" y="4028132"/>
            <a:ext cx="9199968" cy="2339102"/>
          </a:xfrm>
          <a:prstGeom prst="rect">
            <a:avLst/>
          </a:prstGeom>
          <a:noFill/>
        </p:spPr>
        <p:txBody>
          <a:bodyPr wrap="square" rtlCol="0">
            <a:spAutoFit/>
          </a:bodyPr>
          <a:lstStyle/>
          <a:p>
            <a:pPr>
              <a:lnSpc>
                <a:spcPct val="150000"/>
              </a:lnSpc>
            </a:pPr>
            <a:r>
              <a:rPr lang="en-IN" sz="2400" dirty="0">
                <a:solidFill>
                  <a:srgbClr val="FF0000"/>
                </a:solidFill>
              </a:rPr>
              <a:t>Insights :- </a:t>
            </a:r>
          </a:p>
          <a:p>
            <a:pPr marL="342900" indent="-342900" algn="just">
              <a:lnSpc>
                <a:spcPct val="150000"/>
              </a:lnSpc>
              <a:buFont typeface="Wingdings" panose="05000000000000000000" pitchFamily="2" charset="2"/>
              <a:buChar char="v"/>
            </a:pPr>
            <a:r>
              <a:rPr lang="en-US" sz="2000" dirty="0"/>
              <a:t>Legal department has the highest average salary - </a:t>
            </a:r>
          </a:p>
          <a:p>
            <a:pPr marL="342900" indent="-342900" algn="just">
              <a:lnSpc>
                <a:spcPct val="150000"/>
              </a:lnSpc>
              <a:buFont typeface="Arial" panose="020B0604020202020204" pitchFamily="34" charset="0"/>
              <a:buChar char="•"/>
            </a:pPr>
            <a:r>
              <a:rPr lang="en-US" sz="2000" dirty="0"/>
              <a:t>This suggests higher compensation due to specialized expertise,   responsibility, and compliance-related roles.</a:t>
            </a:r>
            <a:r>
              <a:rPr lang="en-US" sz="2000" dirty="0">
                <a:solidFill>
                  <a:srgbClr val="FF0000"/>
                </a:solidFill>
              </a:rPr>
              <a:t>   	</a:t>
            </a:r>
            <a:endParaRPr lang="en-IN" sz="2000" dirty="0">
              <a:solidFill>
                <a:srgbClr val="FF0000"/>
              </a:solidFill>
            </a:endParaRPr>
          </a:p>
          <a:p>
            <a:endParaRPr lang="en-IN" sz="2000" dirty="0">
              <a:solidFill>
                <a:schemeClr val="tx1"/>
              </a:solidFill>
            </a:endParaRPr>
          </a:p>
        </p:txBody>
      </p:sp>
      <p:pic>
        <p:nvPicPr>
          <p:cNvPr id="9" name="Picture 8">
            <a:extLst>
              <a:ext uri="{FF2B5EF4-FFF2-40B4-BE49-F238E27FC236}">
                <a16:creationId xmlns:a16="http://schemas.microsoft.com/office/drawing/2014/main" id="{90DC3973-C78E-DA70-3478-5AF53A1FA9B1}"/>
              </a:ext>
            </a:extLst>
          </p:cNvPr>
          <p:cNvPicPr>
            <a:picLocks noChangeAspect="1"/>
          </p:cNvPicPr>
          <p:nvPr/>
        </p:nvPicPr>
        <p:blipFill>
          <a:blip r:embed="rId3"/>
          <a:stretch>
            <a:fillRect/>
          </a:stretch>
        </p:blipFill>
        <p:spPr>
          <a:xfrm>
            <a:off x="7609474" y="829319"/>
            <a:ext cx="3287491" cy="2889239"/>
          </a:xfrm>
          <a:prstGeom prst="rect">
            <a:avLst/>
          </a:prstGeom>
        </p:spPr>
      </p:pic>
    </p:spTree>
    <p:extLst>
      <p:ext uri="{BB962C8B-B14F-4D97-AF65-F5344CB8AC3E}">
        <p14:creationId xmlns:p14="http://schemas.microsoft.com/office/powerpoint/2010/main" val="453008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23B3B-2B30-7CA0-BB6F-68E6232DB3D5}"/>
              </a:ext>
            </a:extLst>
          </p:cNvPr>
          <p:cNvSpPr>
            <a:spLocks noGrp="1"/>
          </p:cNvSpPr>
          <p:nvPr>
            <p:ph type="title"/>
          </p:nvPr>
        </p:nvSpPr>
        <p:spPr>
          <a:xfrm>
            <a:off x="157316" y="167149"/>
            <a:ext cx="10515600" cy="706591"/>
          </a:xfrm>
        </p:spPr>
        <p:txBody>
          <a:bodyPr>
            <a:normAutofit/>
          </a:bodyPr>
          <a:lstStyle/>
          <a:p>
            <a:r>
              <a:rPr lang="en-US" sz="3200" dirty="0">
                <a:solidFill>
                  <a:srgbClr val="FF0000"/>
                </a:solidFill>
              </a:rPr>
              <a:t>-- Job roles which offer the highest salary</a:t>
            </a:r>
            <a:endParaRPr lang="en-IN" sz="3200" dirty="0">
              <a:solidFill>
                <a:srgbClr val="FF0000"/>
              </a:solidFill>
            </a:endParaRPr>
          </a:p>
        </p:txBody>
      </p:sp>
      <p:pic>
        <p:nvPicPr>
          <p:cNvPr id="4" name="Picture 3">
            <a:extLst>
              <a:ext uri="{FF2B5EF4-FFF2-40B4-BE49-F238E27FC236}">
                <a16:creationId xmlns:a16="http://schemas.microsoft.com/office/drawing/2014/main" id="{9A01F3DD-2BFB-1515-E4C0-B8F63F5C4CF9}"/>
              </a:ext>
            </a:extLst>
          </p:cNvPr>
          <p:cNvPicPr>
            <a:picLocks noChangeAspect="1"/>
          </p:cNvPicPr>
          <p:nvPr/>
        </p:nvPicPr>
        <p:blipFill>
          <a:blip r:embed="rId2"/>
          <a:stretch>
            <a:fillRect/>
          </a:stretch>
        </p:blipFill>
        <p:spPr>
          <a:xfrm>
            <a:off x="434332" y="1001559"/>
            <a:ext cx="5347036" cy="3059164"/>
          </a:xfrm>
          <a:prstGeom prst="rect">
            <a:avLst/>
          </a:prstGeom>
        </p:spPr>
      </p:pic>
      <p:pic>
        <p:nvPicPr>
          <p:cNvPr id="6" name="Picture 5">
            <a:extLst>
              <a:ext uri="{FF2B5EF4-FFF2-40B4-BE49-F238E27FC236}">
                <a16:creationId xmlns:a16="http://schemas.microsoft.com/office/drawing/2014/main" id="{F52003EC-18CC-66C4-FD57-95664E8A9843}"/>
              </a:ext>
            </a:extLst>
          </p:cNvPr>
          <p:cNvPicPr>
            <a:picLocks noChangeAspect="1"/>
          </p:cNvPicPr>
          <p:nvPr/>
        </p:nvPicPr>
        <p:blipFill>
          <a:blip r:embed="rId3"/>
          <a:stretch>
            <a:fillRect/>
          </a:stretch>
        </p:blipFill>
        <p:spPr>
          <a:xfrm>
            <a:off x="7574513" y="1757658"/>
            <a:ext cx="3427783" cy="973272"/>
          </a:xfrm>
          <a:prstGeom prst="rect">
            <a:avLst/>
          </a:prstGeom>
        </p:spPr>
      </p:pic>
      <p:sp>
        <p:nvSpPr>
          <p:cNvPr id="7" name="TextBox 6">
            <a:extLst>
              <a:ext uri="{FF2B5EF4-FFF2-40B4-BE49-F238E27FC236}">
                <a16:creationId xmlns:a16="http://schemas.microsoft.com/office/drawing/2014/main" id="{974305A1-E05D-8EF2-BE00-85DBD07E668A}"/>
              </a:ext>
            </a:extLst>
          </p:cNvPr>
          <p:cNvSpPr txBox="1"/>
          <p:nvPr/>
        </p:nvSpPr>
        <p:spPr>
          <a:xfrm>
            <a:off x="345842" y="3932904"/>
            <a:ext cx="9771552" cy="2435988"/>
          </a:xfrm>
          <a:prstGeom prst="rect">
            <a:avLst/>
          </a:prstGeom>
          <a:noFill/>
        </p:spPr>
        <p:txBody>
          <a:bodyPr wrap="square" rtlCol="0">
            <a:spAutoFit/>
          </a:bodyPr>
          <a:lstStyle/>
          <a:p>
            <a:pPr>
              <a:lnSpc>
                <a:spcPct val="150000"/>
              </a:lnSpc>
            </a:pPr>
            <a:r>
              <a:rPr lang="en-IN" sz="2400" dirty="0">
                <a:solidFill>
                  <a:srgbClr val="FF0000"/>
                </a:solidFill>
              </a:rPr>
              <a:t>Insights :-</a:t>
            </a:r>
          </a:p>
          <a:p>
            <a:pPr marL="342900" indent="-342900" algn="just">
              <a:lnSpc>
                <a:spcPct val="150000"/>
              </a:lnSpc>
              <a:buFont typeface="Wingdings" panose="05000000000000000000" pitchFamily="2" charset="2"/>
              <a:buChar char="v"/>
            </a:pPr>
            <a:r>
              <a:rPr lang="en-US" sz="2000" dirty="0"/>
              <a:t>The Finance Director role offers the highest salary among all job roles in the organization. -</a:t>
            </a:r>
            <a:endParaRPr lang="en-IN" sz="2000" dirty="0">
              <a:solidFill>
                <a:srgbClr val="FF0000"/>
              </a:solidFill>
            </a:endParaRPr>
          </a:p>
          <a:p>
            <a:pPr marL="342900" indent="-342900" algn="just">
              <a:lnSpc>
                <a:spcPct val="150000"/>
              </a:lnSpc>
              <a:buFont typeface="Arial" panose="020B0604020202020204" pitchFamily="34" charset="0"/>
              <a:buChar char="•"/>
            </a:pPr>
            <a:r>
              <a:rPr lang="en-US" sz="2000" dirty="0"/>
              <a:t>This indicates that financial leadership positions are highly valued, reflecting their responsibility in managing company finances, budgets, and strategic decisions.</a:t>
            </a:r>
            <a:endParaRPr lang="en-IN" sz="2000" dirty="0">
              <a:solidFill>
                <a:srgbClr val="FF0000"/>
              </a:solidFill>
            </a:endParaRPr>
          </a:p>
        </p:txBody>
      </p:sp>
    </p:spTree>
    <p:extLst>
      <p:ext uri="{BB962C8B-B14F-4D97-AF65-F5344CB8AC3E}">
        <p14:creationId xmlns:p14="http://schemas.microsoft.com/office/powerpoint/2010/main" val="276449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747B4-EB6A-5686-AFB1-DBD11985EDB6}"/>
              </a:ext>
            </a:extLst>
          </p:cNvPr>
          <p:cNvSpPr>
            <a:spLocks noGrp="1"/>
          </p:cNvSpPr>
          <p:nvPr>
            <p:ph type="title"/>
          </p:nvPr>
        </p:nvSpPr>
        <p:spPr>
          <a:xfrm>
            <a:off x="140110" y="0"/>
            <a:ext cx="12051890" cy="875071"/>
          </a:xfrm>
        </p:spPr>
        <p:txBody>
          <a:bodyPr>
            <a:normAutofit/>
          </a:bodyPr>
          <a:lstStyle/>
          <a:p>
            <a:r>
              <a:rPr lang="en-US" sz="3200" dirty="0">
                <a:solidFill>
                  <a:srgbClr val="FF0000"/>
                </a:solidFill>
              </a:rPr>
              <a:t>-- Employees who have the highest number of qualifications</a:t>
            </a:r>
            <a:endParaRPr lang="en-IN" sz="3200" dirty="0">
              <a:solidFill>
                <a:srgbClr val="FF0000"/>
              </a:solidFill>
            </a:endParaRPr>
          </a:p>
        </p:txBody>
      </p:sp>
      <p:pic>
        <p:nvPicPr>
          <p:cNvPr id="4" name="Picture 3">
            <a:extLst>
              <a:ext uri="{FF2B5EF4-FFF2-40B4-BE49-F238E27FC236}">
                <a16:creationId xmlns:a16="http://schemas.microsoft.com/office/drawing/2014/main" id="{58628EBD-B0FC-2BE5-C814-6D7A047DFC33}"/>
              </a:ext>
            </a:extLst>
          </p:cNvPr>
          <p:cNvPicPr>
            <a:picLocks noChangeAspect="1"/>
          </p:cNvPicPr>
          <p:nvPr/>
        </p:nvPicPr>
        <p:blipFill>
          <a:blip r:embed="rId2"/>
          <a:stretch>
            <a:fillRect/>
          </a:stretch>
        </p:blipFill>
        <p:spPr>
          <a:xfrm>
            <a:off x="283787" y="875071"/>
            <a:ext cx="4917477" cy="3541405"/>
          </a:xfrm>
          <a:prstGeom prst="rect">
            <a:avLst/>
          </a:prstGeom>
        </p:spPr>
      </p:pic>
      <p:pic>
        <p:nvPicPr>
          <p:cNvPr id="6" name="Picture 5">
            <a:extLst>
              <a:ext uri="{FF2B5EF4-FFF2-40B4-BE49-F238E27FC236}">
                <a16:creationId xmlns:a16="http://schemas.microsoft.com/office/drawing/2014/main" id="{13D0FA30-6464-2446-28F0-C61373D008D8}"/>
              </a:ext>
            </a:extLst>
          </p:cNvPr>
          <p:cNvPicPr>
            <a:picLocks noChangeAspect="1"/>
          </p:cNvPicPr>
          <p:nvPr/>
        </p:nvPicPr>
        <p:blipFill>
          <a:blip r:embed="rId3"/>
          <a:stretch>
            <a:fillRect/>
          </a:stretch>
        </p:blipFill>
        <p:spPr>
          <a:xfrm>
            <a:off x="6819746" y="1829839"/>
            <a:ext cx="3307480" cy="972355"/>
          </a:xfrm>
          <a:prstGeom prst="rect">
            <a:avLst/>
          </a:prstGeom>
        </p:spPr>
      </p:pic>
      <p:sp>
        <p:nvSpPr>
          <p:cNvPr id="7" name="TextBox 6">
            <a:extLst>
              <a:ext uri="{FF2B5EF4-FFF2-40B4-BE49-F238E27FC236}">
                <a16:creationId xmlns:a16="http://schemas.microsoft.com/office/drawing/2014/main" id="{6BF79B63-CDE9-C44D-C009-34573610E19C}"/>
              </a:ext>
            </a:extLst>
          </p:cNvPr>
          <p:cNvSpPr txBox="1"/>
          <p:nvPr/>
        </p:nvSpPr>
        <p:spPr>
          <a:xfrm>
            <a:off x="283787" y="4416476"/>
            <a:ext cx="10482536" cy="2251322"/>
          </a:xfrm>
          <a:prstGeom prst="rect">
            <a:avLst/>
          </a:prstGeom>
          <a:noFill/>
        </p:spPr>
        <p:txBody>
          <a:bodyPr wrap="square" rtlCol="0">
            <a:spAutoFit/>
          </a:bodyPr>
          <a:lstStyle/>
          <a:p>
            <a:r>
              <a:rPr lang="en-IN" sz="2400" dirty="0">
                <a:solidFill>
                  <a:srgbClr val="FF0000"/>
                </a:solidFill>
              </a:rPr>
              <a:t>Insights :- </a:t>
            </a:r>
          </a:p>
          <a:p>
            <a:pPr marL="342900" indent="-342900">
              <a:lnSpc>
                <a:spcPct val="150000"/>
              </a:lnSpc>
              <a:buFont typeface="Wingdings" panose="05000000000000000000" pitchFamily="2" charset="2"/>
              <a:buChar char="v"/>
            </a:pPr>
            <a:r>
              <a:rPr lang="en-US" sz="2000" dirty="0"/>
              <a:t>The Finance position has the highest number of qualifications among all roles. -</a:t>
            </a:r>
            <a:endParaRPr lang="en-IN" sz="2000" dirty="0">
              <a:solidFill>
                <a:srgbClr val="FF0000"/>
              </a:solidFill>
            </a:endParaRPr>
          </a:p>
          <a:p>
            <a:pPr marL="342900" indent="-342900">
              <a:lnSpc>
                <a:spcPct val="150000"/>
              </a:lnSpc>
              <a:buFont typeface="Arial" panose="020B0604020202020204" pitchFamily="34" charset="0"/>
              <a:buChar char="•"/>
            </a:pPr>
            <a:r>
              <a:rPr lang="en-US" sz="2000" dirty="0"/>
              <a:t>Roles in Finance likely involve complex responsibilities such as financial planning, risk management, compliance, and auditing, which demand stronger academic and professional backgrounds.</a:t>
            </a:r>
            <a:endParaRPr lang="en-IN" sz="2000" dirty="0">
              <a:solidFill>
                <a:srgbClr val="FF0000"/>
              </a:solidFill>
            </a:endParaRPr>
          </a:p>
        </p:txBody>
      </p:sp>
    </p:spTree>
    <p:extLst>
      <p:ext uri="{BB962C8B-B14F-4D97-AF65-F5344CB8AC3E}">
        <p14:creationId xmlns:p14="http://schemas.microsoft.com/office/powerpoint/2010/main" val="886955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AFFFB-5D18-82EC-E598-1BB8621A9B84}"/>
              </a:ext>
            </a:extLst>
          </p:cNvPr>
          <p:cNvSpPr>
            <a:spLocks noGrp="1"/>
          </p:cNvSpPr>
          <p:nvPr>
            <p:ph type="title"/>
          </p:nvPr>
        </p:nvSpPr>
        <p:spPr>
          <a:xfrm>
            <a:off x="206477" y="-42710"/>
            <a:ext cx="11779045" cy="912217"/>
          </a:xfrm>
        </p:spPr>
        <p:txBody>
          <a:bodyPr>
            <a:normAutofit fontScale="90000"/>
          </a:bodyPr>
          <a:lstStyle/>
          <a:p>
            <a:r>
              <a:rPr lang="en-US" sz="3200" dirty="0">
                <a:solidFill>
                  <a:srgbClr val="FF0000"/>
                </a:solidFill>
              </a:rPr>
              <a:t>-- Average number of leave days taken by its employees per department</a:t>
            </a:r>
            <a:endParaRPr lang="en-IN" sz="3200" dirty="0">
              <a:solidFill>
                <a:srgbClr val="FF0000"/>
              </a:solidFill>
            </a:endParaRPr>
          </a:p>
        </p:txBody>
      </p:sp>
      <p:pic>
        <p:nvPicPr>
          <p:cNvPr id="9" name="Picture 8">
            <a:extLst>
              <a:ext uri="{FF2B5EF4-FFF2-40B4-BE49-F238E27FC236}">
                <a16:creationId xmlns:a16="http://schemas.microsoft.com/office/drawing/2014/main" id="{43DC45B8-5BEF-D69B-1B45-6AEB12488068}"/>
              </a:ext>
            </a:extLst>
          </p:cNvPr>
          <p:cNvPicPr>
            <a:picLocks noChangeAspect="1"/>
          </p:cNvPicPr>
          <p:nvPr/>
        </p:nvPicPr>
        <p:blipFill>
          <a:blip r:embed="rId2"/>
          <a:stretch>
            <a:fillRect/>
          </a:stretch>
        </p:blipFill>
        <p:spPr>
          <a:xfrm>
            <a:off x="0" y="1349643"/>
            <a:ext cx="6587281" cy="4844679"/>
          </a:xfrm>
          <a:prstGeom prst="rect">
            <a:avLst/>
          </a:prstGeom>
        </p:spPr>
      </p:pic>
      <p:pic>
        <p:nvPicPr>
          <p:cNvPr id="11" name="Picture 10">
            <a:extLst>
              <a:ext uri="{FF2B5EF4-FFF2-40B4-BE49-F238E27FC236}">
                <a16:creationId xmlns:a16="http://schemas.microsoft.com/office/drawing/2014/main" id="{9014CB8A-0B44-886D-901A-AA45E24A4C2E}"/>
              </a:ext>
            </a:extLst>
          </p:cNvPr>
          <p:cNvPicPr>
            <a:picLocks noChangeAspect="1"/>
          </p:cNvPicPr>
          <p:nvPr/>
        </p:nvPicPr>
        <p:blipFill>
          <a:blip r:embed="rId3"/>
          <a:stretch>
            <a:fillRect/>
          </a:stretch>
        </p:blipFill>
        <p:spPr>
          <a:xfrm>
            <a:off x="7199357" y="869507"/>
            <a:ext cx="3085185" cy="2581745"/>
          </a:xfrm>
          <a:prstGeom prst="rect">
            <a:avLst/>
          </a:prstGeom>
        </p:spPr>
      </p:pic>
      <p:sp>
        <p:nvSpPr>
          <p:cNvPr id="12" name="TextBox 11">
            <a:extLst>
              <a:ext uri="{FF2B5EF4-FFF2-40B4-BE49-F238E27FC236}">
                <a16:creationId xmlns:a16="http://schemas.microsoft.com/office/drawing/2014/main" id="{D7A6FEB7-78B6-D3CA-930E-23A9C7275B05}"/>
              </a:ext>
            </a:extLst>
          </p:cNvPr>
          <p:cNvSpPr txBox="1"/>
          <p:nvPr/>
        </p:nvSpPr>
        <p:spPr>
          <a:xfrm>
            <a:off x="5515896" y="3771982"/>
            <a:ext cx="6469626" cy="2523768"/>
          </a:xfrm>
          <a:prstGeom prst="rect">
            <a:avLst/>
          </a:prstGeom>
          <a:noFill/>
        </p:spPr>
        <p:txBody>
          <a:bodyPr wrap="square" rtlCol="0">
            <a:spAutoFit/>
          </a:bodyPr>
          <a:lstStyle/>
          <a:p>
            <a:r>
              <a:rPr lang="en-IN" sz="2400" dirty="0">
                <a:solidFill>
                  <a:srgbClr val="FF0000"/>
                </a:solidFill>
              </a:rPr>
              <a:t>Insights :-</a:t>
            </a:r>
          </a:p>
          <a:p>
            <a:pPr marL="342900" indent="-342900" algn="just">
              <a:lnSpc>
                <a:spcPct val="150000"/>
              </a:lnSpc>
              <a:buFont typeface="Wingdings" panose="05000000000000000000" pitchFamily="2" charset="2"/>
              <a:buChar char="v"/>
            </a:pPr>
            <a:r>
              <a:rPr lang="en-US" sz="2000" dirty="0"/>
              <a:t>All departments show an average leave count of 1.00 day. -</a:t>
            </a:r>
          </a:p>
          <a:p>
            <a:pPr marL="342900" indent="-342900" algn="just">
              <a:lnSpc>
                <a:spcPct val="150000"/>
              </a:lnSpc>
              <a:buFont typeface="Arial" panose="020B0604020202020204" pitchFamily="34" charset="0"/>
              <a:buChar char="•"/>
            </a:pPr>
            <a:r>
              <a:rPr lang="en-US" sz="2000" dirty="0"/>
              <a:t>This indicates a uniform leave-taking pattern among employees in all departments.</a:t>
            </a:r>
            <a:endParaRPr lang="en-IN" sz="2000" dirty="0">
              <a:solidFill>
                <a:srgbClr val="FF0000"/>
              </a:solidFill>
            </a:endParaRPr>
          </a:p>
          <a:p>
            <a:endParaRPr lang="en-IN" dirty="0"/>
          </a:p>
        </p:txBody>
      </p:sp>
    </p:spTree>
    <p:extLst>
      <p:ext uri="{BB962C8B-B14F-4D97-AF65-F5344CB8AC3E}">
        <p14:creationId xmlns:p14="http://schemas.microsoft.com/office/powerpoint/2010/main" val="1660383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E9E74-828A-A3F3-6AD1-0B9C977EE1DE}"/>
              </a:ext>
            </a:extLst>
          </p:cNvPr>
          <p:cNvSpPr>
            <a:spLocks noGrp="1"/>
          </p:cNvSpPr>
          <p:nvPr>
            <p:ph type="title"/>
          </p:nvPr>
        </p:nvSpPr>
        <p:spPr>
          <a:xfrm>
            <a:off x="78658" y="-77327"/>
            <a:ext cx="12113342" cy="1316192"/>
          </a:xfrm>
        </p:spPr>
        <p:txBody>
          <a:bodyPr>
            <a:normAutofit/>
          </a:bodyPr>
          <a:lstStyle/>
          <a:p>
            <a:r>
              <a:rPr lang="en-US" sz="3200" dirty="0">
                <a:solidFill>
                  <a:srgbClr val="FF0000"/>
                </a:solidFill>
              </a:rPr>
              <a:t>-- Average value of total amount of employee after considering leave deductions</a:t>
            </a:r>
            <a:endParaRPr lang="en-IN" sz="3200" dirty="0">
              <a:solidFill>
                <a:srgbClr val="FF0000"/>
              </a:solidFill>
            </a:endParaRPr>
          </a:p>
        </p:txBody>
      </p:sp>
      <p:pic>
        <p:nvPicPr>
          <p:cNvPr id="4" name="Picture 3">
            <a:extLst>
              <a:ext uri="{FF2B5EF4-FFF2-40B4-BE49-F238E27FC236}">
                <a16:creationId xmlns:a16="http://schemas.microsoft.com/office/drawing/2014/main" id="{4C590D1C-0EDC-A2E1-07F2-880F2B1AB91B}"/>
              </a:ext>
            </a:extLst>
          </p:cNvPr>
          <p:cNvPicPr>
            <a:picLocks noChangeAspect="1"/>
          </p:cNvPicPr>
          <p:nvPr/>
        </p:nvPicPr>
        <p:blipFill>
          <a:blip r:embed="rId2"/>
          <a:stretch>
            <a:fillRect/>
          </a:stretch>
        </p:blipFill>
        <p:spPr>
          <a:xfrm>
            <a:off x="157933" y="1095496"/>
            <a:ext cx="6961236" cy="5472452"/>
          </a:xfrm>
          <a:prstGeom prst="rect">
            <a:avLst/>
          </a:prstGeom>
        </p:spPr>
      </p:pic>
      <p:pic>
        <p:nvPicPr>
          <p:cNvPr id="6" name="Picture 5">
            <a:extLst>
              <a:ext uri="{FF2B5EF4-FFF2-40B4-BE49-F238E27FC236}">
                <a16:creationId xmlns:a16="http://schemas.microsoft.com/office/drawing/2014/main" id="{577BB02C-6077-81B2-CAB7-71B83699CEF5}"/>
              </a:ext>
            </a:extLst>
          </p:cNvPr>
          <p:cNvPicPr>
            <a:picLocks noChangeAspect="1"/>
          </p:cNvPicPr>
          <p:nvPr/>
        </p:nvPicPr>
        <p:blipFill>
          <a:blip r:embed="rId3"/>
          <a:stretch>
            <a:fillRect/>
          </a:stretch>
        </p:blipFill>
        <p:spPr>
          <a:xfrm>
            <a:off x="7277102" y="675273"/>
            <a:ext cx="4363059" cy="3060985"/>
          </a:xfrm>
          <a:prstGeom prst="rect">
            <a:avLst/>
          </a:prstGeom>
        </p:spPr>
      </p:pic>
      <p:sp>
        <p:nvSpPr>
          <p:cNvPr id="8" name="TextBox 7">
            <a:extLst>
              <a:ext uri="{FF2B5EF4-FFF2-40B4-BE49-F238E27FC236}">
                <a16:creationId xmlns:a16="http://schemas.microsoft.com/office/drawing/2014/main" id="{B227013F-350A-38AC-4B4E-BF0A72F53326}"/>
              </a:ext>
            </a:extLst>
          </p:cNvPr>
          <p:cNvSpPr txBox="1"/>
          <p:nvPr/>
        </p:nvSpPr>
        <p:spPr>
          <a:xfrm>
            <a:off x="5142271" y="3539613"/>
            <a:ext cx="7049729" cy="3447098"/>
          </a:xfrm>
          <a:prstGeom prst="rect">
            <a:avLst/>
          </a:prstGeom>
          <a:noFill/>
        </p:spPr>
        <p:txBody>
          <a:bodyPr wrap="square" rtlCol="0">
            <a:spAutoFit/>
          </a:bodyPr>
          <a:lstStyle/>
          <a:p>
            <a:pPr algn="just"/>
            <a:r>
              <a:rPr lang="en-IN" sz="2400" dirty="0">
                <a:solidFill>
                  <a:srgbClr val="FF0000"/>
                </a:solidFill>
              </a:rPr>
              <a:t>Insights :- </a:t>
            </a:r>
          </a:p>
          <a:p>
            <a:pPr marL="342900" indent="-342900" algn="just">
              <a:lnSpc>
                <a:spcPct val="150000"/>
              </a:lnSpc>
              <a:buFont typeface="Wingdings" panose="05000000000000000000" pitchFamily="2" charset="2"/>
              <a:buChar char="v"/>
            </a:pPr>
            <a:r>
              <a:rPr lang="en-US" sz="2000" dirty="0"/>
              <a:t>The average payable salary after leave deductions varies across employees, indicating differences in salary structure and leave impact. -</a:t>
            </a:r>
          </a:p>
          <a:p>
            <a:pPr marL="342900" indent="-342900" algn="just">
              <a:lnSpc>
                <a:spcPct val="150000"/>
              </a:lnSpc>
              <a:buFont typeface="Arial" panose="020B0604020202020204" pitchFamily="34" charset="0"/>
              <a:buChar char="•"/>
            </a:pPr>
            <a:r>
              <a:rPr lang="en-US" sz="2000" dirty="0"/>
              <a:t>Overall, the results show that leave deductions do affect final salaries, but the organization maintains a balanced payroll structure.</a:t>
            </a:r>
            <a:endParaRPr lang="en-IN" sz="2000" dirty="0"/>
          </a:p>
          <a:p>
            <a:pPr algn="just"/>
            <a:endParaRPr lang="en-IN" dirty="0"/>
          </a:p>
        </p:txBody>
      </p:sp>
    </p:spTree>
    <p:extLst>
      <p:ext uri="{BB962C8B-B14F-4D97-AF65-F5344CB8AC3E}">
        <p14:creationId xmlns:p14="http://schemas.microsoft.com/office/powerpoint/2010/main" val="2054738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18335-28C8-75A1-F7EF-A4936ABC78A4}"/>
              </a:ext>
            </a:extLst>
          </p:cNvPr>
          <p:cNvSpPr>
            <a:spLocks noGrp="1"/>
          </p:cNvSpPr>
          <p:nvPr>
            <p:ph type="title"/>
          </p:nvPr>
        </p:nvSpPr>
        <p:spPr>
          <a:xfrm>
            <a:off x="149942" y="158647"/>
            <a:ext cx="10515600" cy="608269"/>
          </a:xfrm>
        </p:spPr>
        <p:txBody>
          <a:bodyPr>
            <a:normAutofit/>
          </a:bodyPr>
          <a:lstStyle/>
          <a:p>
            <a:r>
              <a:rPr lang="en-IN" sz="3200" dirty="0">
                <a:solidFill>
                  <a:srgbClr val="FF0000"/>
                </a:solidFill>
              </a:rPr>
              <a:t>Experiences and Challenges :-</a:t>
            </a:r>
          </a:p>
        </p:txBody>
      </p:sp>
      <p:sp>
        <p:nvSpPr>
          <p:cNvPr id="3" name="Text Placeholder 2">
            <a:extLst>
              <a:ext uri="{FF2B5EF4-FFF2-40B4-BE49-F238E27FC236}">
                <a16:creationId xmlns:a16="http://schemas.microsoft.com/office/drawing/2014/main" id="{4854451F-BAEF-62C9-E9EE-5AE81D865443}"/>
              </a:ext>
            </a:extLst>
          </p:cNvPr>
          <p:cNvSpPr>
            <a:spLocks noGrp="1"/>
          </p:cNvSpPr>
          <p:nvPr>
            <p:ph type="body" idx="1"/>
          </p:nvPr>
        </p:nvSpPr>
        <p:spPr>
          <a:xfrm>
            <a:off x="265471" y="766916"/>
            <a:ext cx="11088329" cy="5932436"/>
          </a:xfrm>
        </p:spPr>
        <p:txBody>
          <a:bodyPr>
            <a:normAutofit/>
          </a:bodyPr>
          <a:lstStyle/>
          <a:p>
            <a:pPr marL="114300" indent="0" algn="just">
              <a:lnSpc>
                <a:spcPct val="100000"/>
              </a:lnSpc>
              <a:buNone/>
            </a:pPr>
            <a:r>
              <a:rPr lang="en-IN" b="1" dirty="0"/>
              <a:t>Experiences – </a:t>
            </a:r>
          </a:p>
          <a:p>
            <a:pPr algn="just">
              <a:lnSpc>
                <a:spcPct val="100000"/>
              </a:lnSpc>
            </a:pPr>
            <a:r>
              <a:rPr lang="en-US" sz="2400" dirty="0"/>
              <a:t>Gained hands-on experience in designing and implementing relational databases using MySQL.</a:t>
            </a:r>
          </a:p>
          <a:p>
            <a:pPr algn="just">
              <a:lnSpc>
                <a:spcPct val="100000"/>
              </a:lnSpc>
            </a:pPr>
            <a:r>
              <a:rPr lang="en-US" sz="2400" dirty="0"/>
              <a:t>Gained experience in error handling and debugging SQL queries .</a:t>
            </a:r>
          </a:p>
          <a:p>
            <a:pPr algn="just">
              <a:lnSpc>
                <a:spcPct val="100000"/>
              </a:lnSpc>
            </a:pPr>
            <a:r>
              <a:rPr lang="en-US" sz="2400" dirty="0"/>
              <a:t>Practiced writing complex SQL queries involving  JOIN, GROUP BY, AVG, COUNT, and subqueries.</a:t>
            </a:r>
          </a:p>
          <a:p>
            <a:pPr marL="114300" indent="0" algn="just">
              <a:lnSpc>
                <a:spcPct val="100000"/>
              </a:lnSpc>
              <a:buNone/>
            </a:pPr>
            <a:r>
              <a:rPr lang="en-US" b="1" dirty="0"/>
              <a:t>Challenges –</a:t>
            </a:r>
          </a:p>
          <a:p>
            <a:pPr algn="just">
              <a:lnSpc>
                <a:spcPct val="100000"/>
              </a:lnSpc>
            </a:pPr>
            <a:r>
              <a:rPr lang="en-US" sz="2400" dirty="0"/>
              <a:t>Designing a proper database schema and identifying correct relationships between tables</a:t>
            </a:r>
          </a:p>
          <a:p>
            <a:pPr algn="just">
              <a:lnSpc>
                <a:spcPct val="100000"/>
              </a:lnSpc>
            </a:pPr>
            <a:r>
              <a:rPr lang="en-US" sz="2400" dirty="0"/>
              <a:t>Handling foreign key constraints and maintaining data integrity</a:t>
            </a:r>
          </a:p>
          <a:p>
            <a:pPr algn="just">
              <a:lnSpc>
                <a:spcPct val="100000"/>
              </a:lnSpc>
            </a:pPr>
            <a:r>
              <a:rPr lang="en-US" sz="2400" dirty="0"/>
              <a:t>Understanding real-world business logic and converting it into SQL queries</a:t>
            </a:r>
            <a:endParaRPr lang="en-IN" sz="2400" dirty="0"/>
          </a:p>
        </p:txBody>
      </p:sp>
    </p:spTree>
    <p:extLst>
      <p:ext uri="{BB962C8B-B14F-4D97-AF65-F5344CB8AC3E}">
        <p14:creationId xmlns:p14="http://schemas.microsoft.com/office/powerpoint/2010/main" val="3441150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4F256-07D9-3F9F-DC0B-2E342C58BED0}"/>
              </a:ext>
            </a:extLst>
          </p:cNvPr>
          <p:cNvSpPr>
            <a:spLocks noGrp="1"/>
          </p:cNvSpPr>
          <p:nvPr>
            <p:ph type="title"/>
          </p:nvPr>
        </p:nvSpPr>
        <p:spPr>
          <a:xfrm>
            <a:off x="454741" y="352322"/>
            <a:ext cx="10515600" cy="657430"/>
          </a:xfrm>
        </p:spPr>
        <p:txBody>
          <a:bodyPr>
            <a:normAutofit/>
          </a:bodyPr>
          <a:lstStyle/>
          <a:p>
            <a:r>
              <a:rPr lang="en-IN" sz="4000" dirty="0">
                <a:solidFill>
                  <a:srgbClr val="FF0000"/>
                </a:solidFill>
              </a:rPr>
              <a:t>Conclusion :- </a:t>
            </a:r>
          </a:p>
        </p:txBody>
      </p:sp>
      <p:sp>
        <p:nvSpPr>
          <p:cNvPr id="3" name="Text Placeholder 2">
            <a:extLst>
              <a:ext uri="{FF2B5EF4-FFF2-40B4-BE49-F238E27FC236}">
                <a16:creationId xmlns:a16="http://schemas.microsoft.com/office/drawing/2014/main" id="{8D429FB4-2AB3-C443-E4CA-54AF2834947C}"/>
              </a:ext>
            </a:extLst>
          </p:cNvPr>
          <p:cNvSpPr>
            <a:spLocks noGrp="1"/>
          </p:cNvSpPr>
          <p:nvPr>
            <p:ph type="body" idx="1"/>
          </p:nvPr>
        </p:nvSpPr>
        <p:spPr>
          <a:xfrm>
            <a:off x="523567" y="1174673"/>
            <a:ext cx="10515600" cy="4901662"/>
          </a:xfrm>
        </p:spPr>
        <p:txBody>
          <a:bodyPr>
            <a:normAutofit/>
          </a:bodyPr>
          <a:lstStyle/>
          <a:p>
            <a:pPr algn="just">
              <a:lnSpc>
                <a:spcPct val="150000"/>
              </a:lnSpc>
            </a:pPr>
            <a:r>
              <a:rPr lang="en-US" sz="2400" dirty="0"/>
              <a:t>The Employee Management System successfully integrates employee details, job roles, qualifications, leave records, and payroll information using a relational database.</a:t>
            </a:r>
          </a:p>
          <a:p>
            <a:pPr algn="just">
              <a:lnSpc>
                <a:spcPct val="150000"/>
              </a:lnSpc>
            </a:pPr>
            <a:r>
              <a:rPr lang="en-US" sz="2400" dirty="0"/>
              <a:t>The project demonstrates the effective use of SQL concepts such as tables, primary keys, foreign keys, joins, aggregation, and constraints.</a:t>
            </a:r>
          </a:p>
          <a:p>
            <a:pPr algn="just">
              <a:lnSpc>
                <a:spcPct val="150000"/>
              </a:lnSpc>
            </a:pPr>
            <a:r>
              <a:rPr lang="en-US" sz="2400" dirty="0"/>
              <a:t>Overall, the Employee Management System provides a reliable, scalable, and efficient solution for managing organizational employee data.</a:t>
            </a:r>
          </a:p>
          <a:p>
            <a:pPr>
              <a:lnSpc>
                <a:spcPct val="150000"/>
              </a:lnSpc>
            </a:pPr>
            <a:endParaRPr lang="en-IN" sz="2400" dirty="0"/>
          </a:p>
        </p:txBody>
      </p:sp>
    </p:spTree>
    <p:extLst>
      <p:ext uri="{BB962C8B-B14F-4D97-AF65-F5344CB8AC3E}">
        <p14:creationId xmlns:p14="http://schemas.microsoft.com/office/powerpoint/2010/main" val="3659870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722</TotalTime>
  <Words>623</Words>
  <Application>Microsoft Office PowerPoint</Application>
  <PresentationFormat>Widescreen</PresentationFormat>
  <Paragraphs>50</Paragraphs>
  <Slides>13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Arial</vt:lpstr>
      <vt:lpstr>Wingdings</vt:lpstr>
      <vt:lpstr>Libre Baskerville</vt:lpstr>
      <vt:lpstr>Lato Black</vt:lpstr>
      <vt:lpstr>Office Theme</vt:lpstr>
      <vt:lpstr>PowerPoint Presentation</vt:lpstr>
      <vt:lpstr>PowerPoint Presentation</vt:lpstr>
      <vt:lpstr>Business Objectives :- </vt:lpstr>
      <vt:lpstr>Approach of Business Objective -</vt:lpstr>
      <vt:lpstr>PowerPoint Presentation</vt:lpstr>
      <vt:lpstr>-- Average salary per department </vt:lpstr>
      <vt:lpstr>-- Job roles which offer the highest salary</vt:lpstr>
      <vt:lpstr>-- Employees who have the highest number of qualifications</vt:lpstr>
      <vt:lpstr>-- Average number of leave days taken by its employees per department</vt:lpstr>
      <vt:lpstr>-- Average value of total amount of employee after considering leave deductions</vt:lpstr>
      <vt:lpstr>Experiences and Challenges :-</vt:lpstr>
      <vt:lpstr>Conclusion :-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DISHA SURYAWANSHI</cp:lastModifiedBy>
  <cp:revision>2</cp:revision>
  <dcterms:created xsi:type="dcterms:W3CDTF">2021-02-16T05:19:01Z</dcterms:created>
  <dcterms:modified xsi:type="dcterms:W3CDTF">2026-01-05T10:31:24Z</dcterms:modified>
</cp:coreProperties>
</file>